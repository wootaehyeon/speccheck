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54112" y="1371600"/>
            <a:ext cx="38100" cy="41148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00D4FF"/>
                </a:solidFill>
              </a:rPr>
              <a:t>SpecCheck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AI 기반 PC 견적 검증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8"/>
                </a:solidFill>
              </a:rPr>
              <a:t>가격 (신품/중고) · 성능 · 호환성 · 커뮤니티 평가를 종합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77639"/>
            <a:ext cx="3657600" cy="254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2026  /  졸업작품 최종 발표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💡 견적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788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📊 성능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🔍 커뮤니티 평판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160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🛒 중고 시세 최적화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01600" cy="10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502920" cy="50292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361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프로젝트 개요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84832"/>
            <a:ext cx="4754880" cy="127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1508760"/>
            <a:ext cx="502920" cy="50292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4630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5361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기존 서비스와의 차별점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2084832"/>
            <a:ext cx="4754880" cy="127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267712"/>
            <a:ext cx="502920" cy="50292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221992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295144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전체 시스템 아키텍처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843784"/>
            <a:ext cx="4754880" cy="127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2267712"/>
            <a:ext cx="502920" cy="50292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221992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295144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견적 입력 모듈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2843784"/>
            <a:ext cx="4754880" cy="127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026664"/>
            <a:ext cx="502920" cy="50292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980944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05409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가격 분석 — 신품 시세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602736"/>
            <a:ext cx="4754880" cy="127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3026664"/>
            <a:ext cx="502920" cy="50292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980944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05409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8C42"/>
                </a:solidFill>
              </a:rPr>
              <a:t>가격 분석 — 중고 시세 (eBay)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602736"/>
            <a:ext cx="4754880" cy="127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785616"/>
            <a:ext cx="502920" cy="50292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739896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38130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8C42"/>
                </a:solidFill>
              </a:rPr>
              <a:t>중고가 기반 견적 최적화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361688"/>
            <a:ext cx="4754880" cy="127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75120" y="3785616"/>
            <a:ext cx="502920" cy="50292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739896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38130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성능 분석 모듈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4361688"/>
            <a:ext cx="4754880" cy="127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4544568"/>
            <a:ext cx="502920" cy="50292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49884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4572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커뮤니티 데이터 수집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120640"/>
            <a:ext cx="4754880" cy="127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75120" y="4544568"/>
            <a:ext cx="502920" cy="50292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49884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4572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AI 감정분석 모델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5120640"/>
            <a:ext cx="4754880" cy="127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5303520"/>
            <a:ext cx="502920" cy="50292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25780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25880" y="533095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3D 조립 시뮬레이션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5879592"/>
            <a:ext cx="4754880" cy="127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75120" y="5303520"/>
            <a:ext cx="502920" cy="50292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525780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69480" y="533095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확장 기능 및 미구현 기능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75120" y="5879592"/>
            <a:ext cx="4754880" cy="127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01600" cy="10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01. 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</a:rPr>
              <a:t>Project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394960" cy="21031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0800" cy="210312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문제 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B0C4D8"/>
                </a:solidFill>
              </a:rPr>
              <a:t>• 소비자는 견적서를 받아도 스스로 검증하기 어렵다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0C4D8"/>
                </a:solidFill>
              </a:rPr>
              <a:t>• 가격 거품, 부품 불균형, 호환성 문제를 판단할 전문 지식 부족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0C4D8"/>
                </a:solidFill>
              </a:rPr>
              <a:t>• 중고 부품과의 가격 비교 없이 신품만 구매하는 비효율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394960" cy="21031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50800" cy="2103120"/>
          </a:xfrm>
          <a:prstGeom prst="rect">
            <a:avLst/>
          </a:prstGeom>
          <a:solidFill>
            <a:srgbClr val="1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C87E"/>
                </a:solidFill>
              </a:rPr>
              <a:t>솔루션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19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B0C4D8"/>
                </a:solidFill>
              </a:rPr>
              <a:t>• 견적서를 AI가 파싱 → 부품 자동 인식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0C4D8"/>
                </a:solidFill>
              </a:rPr>
              <a:t>• 신품(네이버) + 중고(eBay) 이원화 가격 비교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0C4D8"/>
                </a:solidFill>
              </a:rPr>
              <a:t>• 성능 / 호환성 / 커뮤니티 다각도 분석 후 LLM 설명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4903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6대 분석 기준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06240"/>
            <a:ext cx="1737360" cy="178308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806440"/>
            <a:ext cx="1737360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51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9BFF"/>
                </a:solidFill>
              </a:rPr>
              <a:t>신품
가격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4206240"/>
            <a:ext cx="1737360" cy="178308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1720" y="5806440"/>
            <a:ext cx="1737360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31720" y="4251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48463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8C42"/>
                </a:solidFill>
              </a:rPr>
              <a:t>중고
시세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4206240"/>
            <a:ext cx="1737360" cy="178308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5806440"/>
            <a:ext cx="1737360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4251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8463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9BFF"/>
                </a:solidFill>
              </a:rPr>
              <a:t>성능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59" y="4206240"/>
            <a:ext cx="1737360" cy="178308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0759" y="5806440"/>
            <a:ext cx="1737360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59" y="4251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48463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9BFF"/>
                </a:solidFill>
              </a:rPr>
              <a:t>호환성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79" y="4206240"/>
            <a:ext cx="1737360" cy="178308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79" y="5806440"/>
            <a:ext cx="1737360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4251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48463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9BFF"/>
                </a:solidFill>
              </a:rPr>
              <a:t>최신성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29800" y="4206240"/>
            <a:ext cx="1737360" cy="178308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29800" y="5806440"/>
            <a:ext cx="1737360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9800" y="4251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48463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9BFF"/>
                </a:solidFill>
              </a:rPr>
              <a:t>커뮤니티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01600" cy="10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02. 기존 서비스와의 차별점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</a:rPr>
              <a:t>Competitive Differentiation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240280" cy="61264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기능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417320"/>
            <a:ext cx="2240280" cy="61264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417320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다나와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417320"/>
            <a:ext cx="2240280" cy="61264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417320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컴퓨존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417320"/>
            <a:ext cx="2971800" cy="612648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1417320"/>
            <a:ext cx="30175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SpecCheck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29968"/>
            <a:ext cx="2240280" cy="61264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029968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신품 가격 비교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029968"/>
            <a:ext cx="2240280" cy="61264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2029968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✅ 강점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2029968"/>
            <a:ext cx="2240280" cy="61264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029968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△ 부분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2029968"/>
            <a:ext cx="2971800" cy="612648"/>
          </a:xfrm>
          <a:prstGeom prst="rect">
            <a:avLst/>
          </a:prstGeom>
          <a:solidFill>
            <a:srgbClr val="0D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2029968"/>
            <a:ext cx="30175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</a:rPr>
              <a:t>✅ 네이버 쇼핑 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42616"/>
            <a:ext cx="2240280" cy="6126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642616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중고 시세 비교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2642616"/>
            <a:ext cx="2240280" cy="6126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642616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2642616"/>
            <a:ext cx="2240280" cy="6126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2642616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2642616"/>
            <a:ext cx="2971800" cy="612648"/>
          </a:xfrm>
          <a:prstGeom prst="rect">
            <a:avLst/>
          </a:prstGeom>
          <a:solidFill>
            <a:srgbClr val="0D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2642616"/>
            <a:ext cx="30175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</a:rPr>
              <a:t>✅ eBay 실시간 조회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55264"/>
            <a:ext cx="2240280" cy="61264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255264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견적 추천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255264"/>
            <a:ext cx="2240280" cy="61264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3255264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12080" y="3255264"/>
            <a:ext cx="2240280" cy="61264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3255264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✅ 강점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3255264"/>
            <a:ext cx="2971800" cy="612648"/>
          </a:xfrm>
          <a:prstGeom prst="rect">
            <a:avLst/>
          </a:prstGeom>
          <a:solidFill>
            <a:srgbClr val="0D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0" y="3255264"/>
            <a:ext cx="30175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</a:rPr>
              <a:t>⬜ 검증 중심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867912"/>
            <a:ext cx="2240280" cy="6126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867912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견적 검증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3867912"/>
            <a:ext cx="2240280" cy="6126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0" y="3867912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12080" y="3867912"/>
            <a:ext cx="2240280" cy="6126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0" y="3867912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0" y="3867912"/>
            <a:ext cx="2971800" cy="612648"/>
          </a:xfrm>
          <a:prstGeom prst="rect">
            <a:avLst/>
          </a:prstGeom>
          <a:solidFill>
            <a:srgbClr val="0D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0" y="3867912"/>
            <a:ext cx="30175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</a:rPr>
              <a:t>✅ 핵심 기능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480560"/>
            <a:ext cx="2240280" cy="61264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480560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성능 분석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4480560"/>
            <a:ext cx="2240280" cy="61264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34640" y="4480560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12080" y="4480560"/>
            <a:ext cx="2240280" cy="61264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12080" y="4480560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△ 간단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0" y="4480560"/>
            <a:ext cx="2971800" cy="612648"/>
          </a:xfrm>
          <a:prstGeom prst="rect">
            <a:avLst/>
          </a:prstGeom>
          <a:solidFill>
            <a:srgbClr val="0D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89520" y="4480560"/>
            <a:ext cx="30175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</a:rPr>
              <a:t>✅ 병목·균형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093208"/>
            <a:ext cx="2240280" cy="6126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093208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커뮤니티 평판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34640" y="5093208"/>
            <a:ext cx="2240280" cy="6126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34640" y="5093208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12080" y="5093208"/>
            <a:ext cx="2240280" cy="6126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12080" y="5093208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89520" y="5093208"/>
            <a:ext cx="2971800" cy="612648"/>
          </a:xfrm>
          <a:prstGeom prst="rect">
            <a:avLst/>
          </a:prstGeom>
          <a:solidFill>
            <a:srgbClr val="0D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89520" y="5093208"/>
            <a:ext cx="30175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</a:rPr>
              <a:t>✅ KoBERT 감정분석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705856"/>
            <a:ext cx="2240280" cy="61264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5705856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중고 최적화 제안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34640" y="5705856"/>
            <a:ext cx="2240280" cy="61264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34640" y="5705856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12080" y="5705856"/>
            <a:ext cx="2240280" cy="61264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12080" y="5705856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❌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89520" y="5705856"/>
            <a:ext cx="2971800" cy="612648"/>
          </a:xfrm>
          <a:prstGeom prst="rect">
            <a:avLst/>
          </a:prstGeom>
          <a:solidFill>
            <a:srgbClr val="0D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89520" y="5705856"/>
            <a:ext cx="30175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</a:rPr>
              <a:t>✅ 예산 절감 추천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6318504"/>
            <a:ext cx="2240280" cy="6126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6318504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AI 설명 생성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34640" y="6318504"/>
            <a:ext cx="2240280" cy="6126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34640" y="6318504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212080" y="6318504"/>
            <a:ext cx="2240280" cy="61264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212080" y="6318504"/>
            <a:ext cx="228600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❌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89520" y="6318504"/>
            <a:ext cx="2971800" cy="612648"/>
          </a:xfrm>
          <a:prstGeom prst="rect">
            <a:avLst/>
          </a:prstGeom>
          <a:solidFill>
            <a:srgbClr val="0D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89520" y="6318504"/>
            <a:ext cx="30175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</a:rPr>
              <a:t>✅ LLM 기반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589520" y="1417320"/>
            <a:ext cx="38100" cy="5513832"/>
          </a:xfrm>
          <a:prstGeom prst="rect">
            <a:avLst/>
          </a:prstGeom>
          <a:solidFill>
            <a:srgbClr val="1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✔  SpecCheck = 신품·중고 가격을 모두 아우르는 유일한 견적 검증 도구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01600" cy="10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03. 전체 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입력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1554480" cy="254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188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파싱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463040"/>
            <a:ext cx="1554480" cy="254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188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데이터 소스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463040"/>
            <a:ext cx="1554480" cy="254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188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분석 엔진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463040"/>
            <a:ext cx="1554480" cy="254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188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생성·출력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463040"/>
            <a:ext cx="1554480" cy="254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560320"/>
            <a:ext cx="1554480" cy="100584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56032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사용자
입력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2560320"/>
            <a:ext cx="1554480" cy="10058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0" y="256032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견적
파싱 (LLM)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1508760"/>
            <a:ext cx="2377440" cy="86868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0" y="1508760"/>
            <a:ext cx="2377440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150876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💰 신품 가격 DB
(네이버 쇼핑 API)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2514600"/>
            <a:ext cx="2377440" cy="868680"/>
          </a:xfrm>
          <a:prstGeom prst="rect">
            <a:avLst/>
          </a:prstGeom>
          <a:solidFill>
            <a:srgbClr val="2A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0" y="2514600"/>
            <a:ext cx="2377440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51460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42"/>
                </a:solidFill>
              </a:rPr>
              <a:t>🛒 중고 시세 DB
(eBay Browse API)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3520440"/>
            <a:ext cx="2377440" cy="86868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0" y="3520440"/>
            <a:ext cx="237744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352044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⚡ 성능 DB
(CPU/GPU 벤치마크)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4526280"/>
            <a:ext cx="2377440" cy="86868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0" y="4526280"/>
            <a:ext cx="2377440" cy="38100"/>
          </a:xfrm>
          <a:prstGeom prst="rect">
            <a:avLst/>
          </a:prstGeom>
          <a:solidFill>
            <a:srgbClr val="1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20" y="4526280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💬 커뮤니티 DB
(DC인사이드 크롤링)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2377440"/>
            <a:ext cx="1828800" cy="1645920"/>
          </a:xfrm>
          <a:prstGeom prst="rect">
            <a:avLst/>
          </a:prstGeom>
          <a:solidFill>
            <a:srgbClr val="12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237744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AI
분석 엔진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78240" y="2560320"/>
            <a:ext cx="1554480" cy="1005840"/>
          </a:xfrm>
          <a:prstGeom prst="rect">
            <a:avLst/>
          </a:prstGeom>
          <a:solidFill>
            <a:srgbClr val="12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23960" y="256032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LLM
설명 생성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07040" y="2560320"/>
            <a:ext cx="1371600" cy="1005840"/>
          </a:xfrm>
          <a:prstGeom prst="rect">
            <a:avLst/>
          </a:prstGeom>
          <a:solidFill>
            <a:srgbClr val="1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52760" y="256032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분석
결과 제공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0" y="3044190"/>
            <a:ext cx="91440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67840" y="2948940"/>
            <a:ext cx="25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9BFF"/>
                </a:solidFill>
              </a:rPr>
              <a:t>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92830" y="1943100"/>
            <a:ext cx="38100" cy="301752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11880" y="1924050"/>
            <a:ext cx="45720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9800" y="1828800"/>
            <a:ext cx="25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9BFF"/>
                </a:solidFill>
              </a:rPr>
              <a:t>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11880" y="2929890"/>
            <a:ext cx="45720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9800" y="2834640"/>
            <a:ext cx="25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8C42"/>
                </a:solidFill>
              </a:rPr>
              <a:t>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11880" y="3935730"/>
            <a:ext cx="45720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9800" y="3840480"/>
            <a:ext cx="25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9BFF"/>
                </a:solidFill>
              </a:rPr>
              <a:t>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11880" y="4941570"/>
            <a:ext cx="45720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9800" y="4846320"/>
            <a:ext cx="25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9BFF"/>
                </a:solidFill>
              </a:rPr>
              <a:t>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0" y="3044190"/>
            <a:ext cx="137160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59480" y="2948940"/>
            <a:ext cx="25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9BFF"/>
                </a:solidFill>
              </a:rPr>
              <a:t>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1924050"/>
            <a:ext cx="320040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035040" y="2929890"/>
            <a:ext cx="320040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35040" y="3935730"/>
            <a:ext cx="320040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035040" y="4941570"/>
            <a:ext cx="320040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36030" y="1943100"/>
            <a:ext cx="38100" cy="301752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5080" y="3181350"/>
            <a:ext cx="137160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39840" y="3086100"/>
            <a:ext cx="25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9BFF"/>
                </a:solidFill>
              </a:rPr>
              <a:t>▶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1040" y="3181350"/>
            <a:ext cx="457200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25840" y="3086100"/>
            <a:ext cx="25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9BFF"/>
                </a:solidFill>
              </a:rPr>
              <a:t>▶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32720" y="3044190"/>
            <a:ext cx="274320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54640" y="2948940"/>
            <a:ext cx="25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9BFF"/>
                </a:solidFill>
              </a:rPr>
              <a:t>▶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5806440"/>
            <a:ext cx="11612880" cy="9144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58338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주요 API 엔드포인트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6144768"/>
            <a:ext cx="3474720" cy="254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" y="6135624"/>
            <a:ext cx="33832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9BFF"/>
                </a:solidFill>
              </a:rPr>
              <a:t>/api/price-check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06240" y="6144768"/>
            <a:ext cx="3474720" cy="254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51959" y="6135624"/>
            <a:ext cx="33832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9BFF"/>
                </a:solidFill>
              </a:rPr>
              <a:t>/api/market-prices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55279" y="6144768"/>
            <a:ext cx="3474720" cy="254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01000" y="6135624"/>
            <a:ext cx="33832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8C42"/>
                </a:solidFill>
              </a:rPr>
              <a:t>/api/used-prices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6464807"/>
            <a:ext cx="3474720" cy="254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6455664"/>
            <a:ext cx="33832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8C42"/>
                </a:solidFill>
              </a:rPr>
              <a:t>/api/optimize-estimate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06240" y="6464807"/>
            <a:ext cx="3474720" cy="254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51959" y="6455664"/>
            <a:ext cx="33832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9BFF"/>
                </a:solidFill>
              </a:rPr>
              <a:t>/api/crawl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55279" y="6464807"/>
            <a:ext cx="3474720" cy="254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01000" y="6455664"/>
            <a:ext cx="33832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9BFF"/>
                </a:solidFill>
              </a:rPr>
              <a:t>/api/market-intelligence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6675120"/>
            <a:ext cx="201168" cy="201168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6647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신품 가격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468879" y="6675120"/>
            <a:ext cx="201168" cy="20116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43200" y="6647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중고 시세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63440" y="6675120"/>
            <a:ext cx="201168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37759" y="6647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성능/커뮤니티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57999" y="6675120"/>
            <a:ext cx="201168" cy="201168"/>
          </a:xfrm>
          <a:prstGeom prst="rect">
            <a:avLst/>
          </a:prstGeom>
          <a:solidFill>
            <a:srgbClr val="12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2319" y="6647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AI 엔진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52560" y="6675120"/>
            <a:ext cx="201168" cy="201168"/>
          </a:xfrm>
          <a:prstGeom prst="rect">
            <a:avLst/>
          </a:prstGeom>
          <a:solidFill>
            <a:srgbClr val="1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26880" y="6647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결과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01600" cy="10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04. 견적 입력 모듈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</a:rPr>
              <a:t>Spec Input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</a:rPr>
              <a:t>✦ 입력 방식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</a:rPr>
              <a:t>   • 견적서 파일 업로드 (텍스트 / PDF)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</a:rPr>
              <a:t>   • 직접 텍스트 입력 지원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</a:rPr>
              <a:t>✦ LLM Parsing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</a:rPr>
              <a:t>   • 부품명, 가격, 수량 자동 추출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</a:rPr>
              <a:t>   • 비정형 견적서도 처리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</a:rPr>
              <a:t>✦ 부품명 정규화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</a:rPr>
              <a:t>   • 판매처별 표기 차이 통일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</a:rPr>
              <a:t>   • 예: 'RTX 4070 Ti SUPER' ↔ 'GeForce RTX4070Ti Super'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FFFFFF"/>
                </a:solidFill>
              </a:rPr>
              <a:t>   • 정규화 후 신품/중고 시세 조회에 동일 키워드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17320"/>
            <a:ext cx="5303520" cy="50292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417320"/>
            <a:ext cx="50800" cy="5029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입력 → 파싱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B0C4D8"/>
                </a:solidFill>
              </a:rPr>
              <a:t>[ 견적서 원문 ]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B0C4D8"/>
                </a:solidFill>
              </a:rPr>
              <a:t>AMD Ryzen 7 7800X3D ............... 459,000원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B0C4D8"/>
                </a:solidFill>
              </a:rPr>
              <a:t>ASUS ROG STRIX B650E-F ........... 389,000원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B0C4D8"/>
                </a:solidFill>
              </a:rPr>
              <a:t>Samsung DDR5-6000 16GB x2 ....... 128,000원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B0C4D8"/>
                </a:solidFill>
              </a:rPr>
              <a:t>RTX 4070 Ti SUPER 16GB ........... 899,000원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3520440"/>
            <a:ext cx="4754880" cy="127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65760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EC87E"/>
                </a:solidFill>
              </a:rPr>
              <a:t>[ 파싱·정규화 결과 ]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C87E"/>
                </a:solidFill>
              </a:rPr>
              <a:t>CPU  : Ryzen 7 7800X3D     → ₩459,000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C87E"/>
                </a:solidFill>
              </a:rPr>
              <a:t>MB   : ASUS ROG B650E-F    → ₩389,000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C87E"/>
                </a:solidFill>
              </a:rPr>
              <a:t>RAM  : Samsung DDR5 32GB   → ₩128,000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C87E"/>
                </a:solidFill>
              </a:rPr>
              <a:t>GPU  : RTX 4070 Ti SUPER   → ₩899,000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C87E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EC87E"/>
                </a:solidFill>
              </a:rPr>
              <a:t>→ 신품/중고 시세 조회 키워드 생성 완료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01600" cy="10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05. 가격 분석 — 신품 시세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</a:rPr>
              <a:t>New Product Price Analysis (Naver Shopping API)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</a:rPr>
              <a:t>✦ 데이터 소스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</a:rPr>
              <a:t>   • 네이버 쇼핑 API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</a:rPr>
              <a:t>   • 상위 20개 상품 기준 평균가 산출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</a:rPr>
              <a:t>   • 최저가 / 평균가 / 최고가 실시간 조회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</a:rPr>
              <a:t>✦ 오버페이율 계산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</a:rPr>
              <a:t>   오버페이율 = 사용자 입력가 ÷ 평균 시세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</a:rPr>
              <a:t>   • 1.05 이하 : 합리적 (최저가 근접)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</a:rPr>
              <a:t>   • 1.05 ~ 1.20 : 주의 (소폭 비쌈)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</a:rPr>
              <a:t>   • 1.20 초과 : 고위험 (재협상 권고)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17320"/>
            <a:ext cx="1503680" cy="566928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1732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부품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417320"/>
            <a:ext cx="1046480" cy="566928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41732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입력가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1417320"/>
            <a:ext cx="955040" cy="566928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417320"/>
            <a:ext cx="1005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평균 시세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49840" y="1417320"/>
            <a:ext cx="1046480" cy="566928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49840" y="1417320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오버페이율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338560" y="1417320"/>
            <a:ext cx="772160" cy="566928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0" y="1417320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판정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984248"/>
            <a:ext cx="1503680" cy="56692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984248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Ryzen 7 7800X3D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1984248"/>
            <a:ext cx="1046480" cy="56692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1984248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459,000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984248"/>
            <a:ext cx="955040" cy="56692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1984248"/>
            <a:ext cx="1005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449,000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9840" y="1984248"/>
            <a:ext cx="1046480" cy="56692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1984248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1.02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338560" y="1984248"/>
            <a:ext cx="772160" cy="56692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38560" y="1984248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C87E"/>
                </a:solidFill>
              </a:rPr>
              <a:t>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551176"/>
            <a:ext cx="1503680" cy="56692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551176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RTX 4070 Ti SUPER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2551176"/>
            <a:ext cx="1046480" cy="56692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2551176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899,000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2551176"/>
            <a:ext cx="955040" cy="56692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2551176"/>
            <a:ext cx="1005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789,000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49840" y="2551176"/>
            <a:ext cx="1046480" cy="56692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2551176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4D4D"/>
                </a:solidFill>
              </a:rPr>
              <a:t>1.14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338560" y="2551176"/>
            <a:ext cx="772160" cy="56692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338560" y="2551176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⚠️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118104"/>
            <a:ext cx="1503680" cy="56692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3118104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Samsung DDR5 32GB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0" y="3118104"/>
            <a:ext cx="1046480" cy="56692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3118104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128,000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52560" y="3118104"/>
            <a:ext cx="955040" cy="56692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60" y="3118104"/>
            <a:ext cx="1005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132,000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49840" y="3118104"/>
            <a:ext cx="1046480" cy="56692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49840" y="3118104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0.97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338560" y="3118104"/>
            <a:ext cx="772160" cy="56692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338560" y="3118104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C87E"/>
                </a:solidFill>
              </a:rPr>
              <a:t>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3685032"/>
            <a:ext cx="1503680" cy="56692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3685032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ASUS B650E-F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63840" y="3685032"/>
            <a:ext cx="1046480" cy="56692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63840" y="3685032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389,000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52560" y="3685032"/>
            <a:ext cx="955040" cy="56692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52560" y="3685032"/>
            <a:ext cx="1005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359,000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49840" y="3685032"/>
            <a:ext cx="1046480" cy="56692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49840" y="3685032"/>
            <a:ext cx="1097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1.08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338560" y="3685032"/>
            <a:ext cx="772160" cy="566928"/>
          </a:xfrm>
          <a:prstGeom prst="rect">
            <a:avLst/>
          </a:prstGeom>
          <a:solidFill>
            <a:srgbClr val="12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338560" y="3685032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C87E"/>
                </a:solidFill>
              </a:rPr>
              <a:t>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오버페이율 시각화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52120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Ryzen 7 7800X3D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6080" y="5262880"/>
            <a:ext cx="3587261" cy="203200"/>
          </a:xfrm>
          <a:prstGeom prst="rect">
            <a:avLst/>
          </a:prstGeom>
          <a:solidFill>
            <a:srgbClr val="1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9541" y="521208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×1.02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5961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RTX 4070 Ti SUPER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26080" y="5646928"/>
            <a:ext cx="4009292" cy="20320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11572" y="559612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×1.14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59801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Samsung DDR5 32GB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26080" y="6030976"/>
            <a:ext cx="3411415" cy="203200"/>
          </a:xfrm>
          <a:prstGeom prst="rect">
            <a:avLst/>
          </a:prstGeom>
          <a:solidFill>
            <a:srgbClr val="1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13695" y="598017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×0.97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ASUS B650E-F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26080" y="6415024"/>
            <a:ext cx="3798276" cy="203200"/>
          </a:xfrm>
          <a:prstGeom prst="rect">
            <a:avLst/>
          </a:prstGeom>
          <a:solidFill>
            <a:srgbClr val="1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00556" y="636422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×1.08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01600" cy="10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06. 가격 분석 — 중고 시세 (eBay)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</a:rPr>
              <a:t>Used Price Analysis via eBay Browse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11247120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</a:rPr>
              <a:t>✦ 데이터 소스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</a:rPr>
              <a:t>   • eBay Browse API (공식 OAuth 토큰)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</a:rPr>
              <a:t>   • 폴백: 직접 스크래핑 (봇 차단 회피)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</a:rPr>
              <a:t>   • 24시간 캐시로 불필요한 API 호출 방지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</a:rPr>
              <a:t>✦ 수집 방식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</a:rPr>
              <a:t>   • 조건: Used (중고) 상품만 필터링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</a:rPr>
              <a:t>     conditionIds = {3000 | 2500 | 2000}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</a:rPr>
              <a:t>   • USD → KRW 실시간 환율 변환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</a:rPr>
              <a:t>     (기본 환율: $1 = ₩1,380)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</a:rPr>
              <a:t>✦ 구현 파일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</a:rPr>
              <a:t>   • backend/app/services/ebay_api.py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</a:rPr>
              <a:t>   • backend/data/used_price_cache.json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17320"/>
            <a:ext cx="5303520" cy="521208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417320"/>
            <a:ext cx="50800" cy="52120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42"/>
                </a:solidFill>
              </a:rPr>
              <a:t>eBay 중고 시세 조회 결과 예시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965960"/>
            <a:ext cx="1320800" cy="521207"/>
          </a:xfrm>
          <a:prstGeom prst="rect">
            <a:avLst/>
          </a:prstGeom>
          <a:solidFill>
            <a:srgbClr val="2A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1371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42"/>
                </a:solidFill>
              </a:rPr>
              <a:t>부품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965960"/>
            <a:ext cx="955040" cy="521207"/>
          </a:xfrm>
          <a:prstGeom prst="rect">
            <a:avLst/>
          </a:prstGeom>
          <a:solidFill>
            <a:srgbClr val="2A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965960"/>
            <a:ext cx="1005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42"/>
                </a:solidFill>
              </a:rPr>
              <a:t>eBay 시세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965960"/>
            <a:ext cx="863600" cy="521207"/>
          </a:xfrm>
          <a:prstGeom prst="rect">
            <a:avLst/>
          </a:prstGeom>
          <a:solidFill>
            <a:srgbClr val="2A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965960"/>
            <a:ext cx="9144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42"/>
                </a:solidFill>
              </a:rPr>
              <a:t>원화 환산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0" y="1965960"/>
            <a:ext cx="817880" cy="521207"/>
          </a:xfrm>
          <a:prstGeom prst="rect">
            <a:avLst/>
          </a:prstGeom>
          <a:solidFill>
            <a:srgbClr val="2A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0" y="1965960"/>
            <a:ext cx="8686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42"/>
                </a:solidFill>
              </a:rPr>
              <a:t>신품가 비교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0" y="1965960"/>
            <a:ext cx="955040" cy="521207"/>
          </a:xfrm>
          <a:prstGeom prst="rect">
            <a:avLst/>
          </a:prstGeom>
          <a:solidFill>
            <a:srgbClr val="2A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0" y="1965960"/>
            <a:ext cx="1005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42"/>
                </a:solidFill>
              </a:rPr>
              <a:t>절감액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487167"/>
            <a:ext cx="1320800" cy="521207"/>
          </a:xfrm>
          <a:prstGeom prst="rect">
            <a:avLst/>
          </a:prstGeom>
          <a:solidFill>
            <a:srgbClr val="1A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487167"/>
            <a:ext cx="1371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</a:rPr>
              <a:t>RTX 4070 Ti SUPER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2487167"/>
            <a:ext cx="955040" cy="521207"/>
          </a:xfrm>
          <a:prstGeom prst="rect">
            <a:avLst/>
          </a:prstGeom>
          <a:solidFill>
            <a:srgbClr val="1A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2487167"/>
            <a:ext cx="1005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</a:rPr>
              <a:t>$420 USD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2487167"/>
            <a:ext cx="863600" cy="521207"/>
          </a:xfrm>
          <a:prstGeom prst="rect">
            <a:avLst/>
          </a:prstGeom>
          <a:solidFill>
            <a:srgbClr val="1A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2487167"/>
            <a:ext cx="9144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</a:rPr>
              <a:t>₩579,600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0" y="2487167"/>
            <a:ext cx="817880" cy="521207"/>
          </a:xfrm>
          <a:prstGeom prst="rect">
            <a:avLst/>
          </a:prstGeom>
          <a:solidFill>
            <a:srgbClr val="1A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2487167"/>
            <a:ext cx="8686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</a:rPr>
              <a:t>₩899,000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0" y="2487167"/>
            <a:ext cx="955040" cy="521207"/>
          </a:xfrm>
          <a:prstGeom prst="rect">
            <a:avLst/>
          </a:prstGeom>
          <a:solidFill>
            <a:srgbClr val="1A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0" y="2487167"/>
            <a:ext cx="1005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C87E"/>
                </a:solidFill>
              </a:rPr>
              <a:t>▼ 35.4% 절감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3008374"/>
            <a:ext cx="1320800" cy="521207"/>
          </a:xfrm>
          <a:prstGeom prst="rect">
            <a:avLst/>
          </a:prstGeom>
          <a:solidFill>
            <a:srgbClr val="120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008374"/>
            <a:ext cx="1371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</a:rPr>
              <a:t>Ryzen 7 7800X3D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3008374"/>
            <a:ext cx="955040" cy="521207"/>
          </a:xfrm>
          <a:prstGeom prst="rect">
            <a:avLst/>
          </a:prstGeom>
          <a:solidFill>
            <a:srgbClr val="120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3008374"/>
            <a:ext cx="1005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</a:rPr>
              <a:t>$280 USD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3008374"/>
            <a:ext cx="863600" cy="521207"/>
          </a:xfrm>
          <a:prstGeom prst="rect">
            <a:avLst/>
          </a:prstGeom>
          <a:solidFill>
            <a:srgbClr val="120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3008374"/>
            <a:ext cx="9144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</a:rPr>
              <a:t>₩386,400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3008374"/>
            <a:ext cx="817880" cy="521207"/>
          </a:xfrm>
          <a:prstGeom prst="rect">
            <a:avLst/>
          </a:prstGeom>
          <a:solidFill>
            <a:srgbClr val="120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0" y="3008374"/>
            <a:ext cx="8686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</a:rPr>
              <a:t>₩459,000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0" y="3008374"/>
            <a:ext cx="955040" cy="521207"/>
          </a:xfrm>
          <a:prstGeom prst="rect">
            <a:avLst/>
          </a:prstGeom>
          <a:solidFill>
            <a:srgbClr val="120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0" y="3008374"/>
            <a:ext cx="1005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C87E"/>
                </a:solidFill>
              </a:rPr>
              <a:t>▼ 15.8% 절감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3529581"/>
            <a:ext cx="1320800" cy="521207"/>
          </a:xfrm>
          <a:prstGeom prst="rect">
            <a:avLst/>
          </a:prstGeom>
          <a:solidFill>
            <a:srgbClr val="1A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529581"/>
            <a:ext cx="1371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</a:rPr>
              <a:t>ASUS B650E-F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5279" y="3529581"/>
            <a:ext cx="955040" cy="521207"/>
          </a:xfrm>
          <a:prstGeom prst="rect">
            <a:avLst/>
          </a:prstGeom>
          <a:solidFill>
            <a:srgbClr val="1A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79" y="3529581"/>
            <a:ext cx="1005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</a:rPr>
              <a:t>$195 USD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52560" y="3529581"/>
            <a:ext cx="863600" cy="521207"/>
          </a:xfrm>
          <a:prstGeom prst="rect">
            <a:avLst/>
          </a:prstGeom>
          <a:solidFill>
            <a:srgbClr val="1A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0" y="3529581"/>
            <a:ext cx="9144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</a:rPr>
              <a:t>₩269,100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58400" y="3529581"/>
            <a:ext cx="817880" cy="521207"/>
          </a:xfrm>
          <a:prstGeom prst="rect">
            <a:avLst/>
          </a:prstGeom>
          <a:solidFill>
            <a:srgbClr val="1A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0" y="3529581"/>
            <a:ext cx="8686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</a:rPr>
              <a:t>₩389,000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972800" y="3529581"/>
            <a:ext cx="955040" cy="521207"/>
          </a:xfrm>
          <a:prstGeom prst="rect">
            <a:avLst/>
          </a:prstGeom>
          <a:solidFill>
            <a:srgbClr val="1A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72800" y="3529581"/>
            <a:ext cx="1005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C87E"/>
                </a:solidFill>
              </a:rPr>
              <a:t>▼ 30.8% 절감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4050788"/>
            <a:ext cx="1320800" cy="521207"/>
          </a:xfrm>
          <a:prstGeom prst="rect">
            <a:avLst/>
          </a:prstGeom>
          <a:solidFill>
            <a:srgbClr val="120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4050788"/>
            <a:ext cx="13716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</a:rPr>
              <a:t>Samsung DDR5 32GB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55279" y="4050788"/>
            <a:ext cx="955040" cy="521207"/>
          </a:xfrm>
          <a:prstGeom prst="rect">
            <a:avLst/>
          </a:prstGeom>
          <a:solidFill>
            <a:srgbClr val="120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79" y="4050788"/>
            <a:ext cx="1005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</a:rPr>
              <a:t>$75 USD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52560" y="4050788"/>
            <a:ext cx="863600" cy="521207"/>
          </a:xfrm>
          <a:prstGeom prst="rect">
            <a:avLst/>
          </a:prstGeom>
          <a:solidFill>
            <a:srgbClr val="120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0" y="4050788"/>
            <a:ext cx="9144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</a:rPr>
              <a:t>₩103,500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0" y="4050788"/>
            <a:ext cx="817880" cy="521207"/>
          </a:xfrm>
          <a:prstGeom prst="rect">
            <a:avLst/>
          </a:prstGeom>
          <a:solidFill>
            <a:srgbClr val="120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58400" y="4050788"/>
            <a:ext cx="8686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8"/>
                </a:solidFill>
              </a:rPr>
              <a:t>₩128,000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72800" y="4050788"/>
            <a:ext cx="955040" cy="521207"/>
          </a:xfrm>
          <a:prstGeom prst="rect">
            <a:avLst/>
          </a:prstGeom>
          <a:solidFill>
            <a:srgbClr val="120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72800" y="4050788"/>
            <a:ext cx="1005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C87E"/>
                </a:solidFill>
              </a:rPr>
              <a:t>▼ 19.1% 절감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0" y="4160520"/>
            <a:ext cx="4846320" cy="127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총 견적 합계: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0" y="46177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0C4D8"/>
                </a:solidFill>
              </a:rPr>
              <a:t>신품 기준: ₩1,875,000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B0C4D8"/>
                </a:solidFill>
              </a:rPr>
              <a:t>중고 기준: ₩1,338,600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B0C4D8"/>
                </a:solidFill>
              </a:rPr>
              <a:t>예상 절감액: ₩536,400 (28.6% ↓)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3680" y="5486400"/>
            <a:ext cx="4846320" cy="254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80" y="5577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42"/>
                </a:solidFill>
              </a:rPr>
              <a:t>★  동일 스펙을 약 53만 원 저렴하게 구성 가능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B830"/>
                </a:solidFill>
              </a:rPr>
              <a:t>⚠  eBay = 해외 중고시장 기준 / 국내 당근마켓·번개장터는 향후 확장 예정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01600" cy="10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07. 중고가 기반 견적 최적화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</a:rPr>
              <a:t>Used Price Optimizer  |  /api/optimize-estimate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11247120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566160" cy="32004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3566160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BFF"/>
                </a:solidFill>
              </a:rPr>
              <a:t>🔍 STEP 1
중고가 수집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eBay API로 각 부품의
  중고 시세 조회
• 24h 캐시 활용
• USD → KRW 변환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743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42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508760"/>
            <a:ext cx="3566160" cy="32004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508760"/>
            <a:ext cx="3566160" cy="381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572768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42"/>
                </a:solidFill>
              </a:rPr>
              <a:t>💡 STEP 2
절감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37744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신품가 vs 중고가 비교
• 부품별 절감 금액 계산
• 절감율 순 정렬
• 오래된 부품 우선 교체 제안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743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42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508760"/>
            <a:ext cx="3566160" cy="32004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508760"/>
            <a:ext cx="3566160" cy="38100"/>
          </a:xfrm>
          <a:prstGeom prst="rect">
            <a:avLst/>
          </a:prstGeom>
          <a:solidFill>
            <a:srgbClr val="1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72768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C87E"/>
                </a:solidFill>
              </a:rPr>
              <a:t>📋 STEP 3
최적화 보고서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7744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• 교체 추천 목록 생성
• 동일 예산 내 성능 향상 방안
• LLM으로 쉬운 언어 설명
• recommend.html 페이지 출력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46320"/>
            <a:ext cx="11247120" cy="173736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846320"/>
            <a:ext cx="50800" cy="17373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42"/>
                </a:solidFill>
              </a:rPr>
              <a:t>최적화 결과 예시 (RTX 4070 Ti SUPER 교체 제안)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2180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B0C4D8"/>
                </a:solidFill>
              </a:rPr>
              <a:t>현재 견적 GPU:  RTX 4070 Ti SUPER 신품  →  ₩899,000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B0C4D8"/>
                </a:solidFill>
              </a:rPr>
              <a:t>중고 대안:      RTX 4070 Ti SUPER (eBay Used)  →  ₩579,600  (절감: ₩319,400 / 35.4%↓)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B0C4D8"/>
                </a:solidFill>
              </a:rPr>
              <a:t>절감 예산 활용: 남은 ₩319,400으로 32GB DDR5 추가 → 전체 견적 성능 향상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B830"/>
                </a:solidFill>
              </a:rPr>
              <a:t>⚠  중고품 컨디션(Used / Good / Acceptable) 필터 적용 — conditionIds 기반 품질 구분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01600" cy="10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08. 성능 분석 모듈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</a:rPr>
              <a:t>Performance Analysis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</a:rPr>
              <a:t>✦ 활용 데이터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</a:rPr>
              <a:t>   • CPU Benchmark (cpu_benchmark.json, 564KB)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</a:rPr>
              <a:t>   • GPU Benchmark (gpu_benchmark.json, 323KB)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</a:rPr>
              <a:t>   • RAM 속도 및 용량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</a:rPr>
              <a:t>   • SSD 읽기/쓰기 성능 지수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</a:rPr>
              <a:t>✦ 분석 항목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</a:rPr>
              <a:t>   • 부품별 성능 점수 계산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</a:rPr>
              <a:t>   • CPU-GPU 밸런스 비율 평가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</a:rPr>
              <a:t>   • 병목 가능성 감지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</a:rPr>
              <a:t>   • 용도별 권장 스펙 대비 충족도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5303520" cy="51206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성능 분석 결과 예시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CPU 성능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2029460"/>
            <a:ext cx="2523744" cy="2286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95304" y="19659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788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GPU 성능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2852420"/>
            <a:ext cx="2331720" cy="228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3280" y="27889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85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11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RAM 대역폭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3675380"/>
            <a:ext cx="2139696" cy="228600"/>
          </a:xfrm>
          <a:prstGeom prst="rect">
            <a:avLst/>
          </a:prstGeom>
          <a:solidFill>
            <a:srgbClr val="1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11256" y="36118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434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SSD 속도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4498340"/>
            <a:ext cx="2414016" cy="228600"/>
          </a:xfrm>
          <a:prstGeom prst="rect">
            <a:avLst/>
          </a:prstGeom>
          <a:solidFill>
            <a:srgbClr val="1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85576" y="4434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257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CPU-GPU 균형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5321300"/>
            <a:ext cx="2002536" cy="22860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74096" y="5257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73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6035040"/>
            <a:ext cx="4754880" cy="127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6126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B830"/>
                </a:solidFill>
              </a:rPr>
              <a:t>⚠  CPU-GPU 균형 73점 — GPU 업그레이드 또는 CPU 하향 검토 권장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01600" cy="10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09. 커뮤니티 데이터 수집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</a:rPr>
              <a:t>Community Data Collection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51760" cy="347472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65176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DC인사이드
컴퓨터 본체 갤러리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부품명 키워드로 게시글 수집
(crawl_service.py)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9BF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417320"/>
            <a:ext cx="2651760" cy="34747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417320"/>
            <a:ext cx="265176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74519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텍스트
전처리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6517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HTML 제거 / 욕설 필터링
/ 중복 제거 / 토크나이징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9BF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417320"/>
            <a:ext cx="2651760" cy="34747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65176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874519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감정분석
입력 데이터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6517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부품별 언급 문장 추출
→ 분석 입력 형식 변환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9BFF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1417320"/>
            <a:ext cx="2651760" cy="3474720"/>
          </a:xfrm>
          <a:prstGeom prst="rect">
            <a:avLst/>
          </a:prstGeom>
          <a:solidFill>
            <a:srgbClr val="1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0" y="1417320"/>
            <a:ext cx="265176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1874519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평판 점수
생성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6517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긍정/부정 비율 → 0~100점
부품별 평판 점수화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120640"/>
            <a:ext cx="11247120" cy="14173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B0C4D8"/>
                </a:solidFill>
              </a:rPr>
              <a:t>수집 예시 — 'RTX 4070 Ti SUPER' 관련 DC인사이드 게시글: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0C4D8"/>
                </a:solidFill>
              </a:rPr>
              <a:t>  💬  "이 가격대에서 4070 Ti SUPER가 최고 가성비임. 발열도 생각보다 괜찮음"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B0C4D8"/>
                </a:solidFill>
              </a:rPr>
              <a:t>  💬  "근데 소비전력이 좀 높아서 700W PSU 필요함... 그 부분이 아쉬움"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01600" cy="10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10. AI 감정분석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</a:rPr>
              <a:t>Sentiment Analysis (KoBERT-based)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394960" cy="51206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0800" cy="512064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B0C4D8"/>
                </a:solidFill>
              </a:rPr>
              <a:t>✦ 모델 기반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B0C4D8"/>
                </a:solidFill>
              </a:rPr>
              <a:t>   KoBERT (한국어 BERT) 파인튜닝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B0C4D8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B0C4D8"/>
                </a:solidFill>
              </a:rPr>
              <a:t>✦ 학습 데이터셋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B0C4D8"/>
                </a:solidFill>
              </a:rPr>
              <a:t>   • NSMC (네이버 영화 리뷰 감성 데이터)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B0C4D8"/>
                </a:solidFill>
              </a:rPr>
              <a:t>   • DC인사이드 게시글 크롤링 데이터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B0C4D8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B0C4D8"/>
                </a:solidFill>
              </a:rPr>
              <a:t>✦ 분류 라벨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B0C4D8"/>
                </a:solidFill>
              </a:rPr>
              <a:t>   • 긍정 (부품 만족)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B0C4D8"/>
                </a:solidFill>
              </a:rPr>
              <a:t>   • 가격 불만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B0C4D8"/>
                </a:solidFill>
              </a:rPr>
              <a:t>   • 성능 불만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B0C4D8"/>
                </a:solidFill>
              </a:rPr>
              <a:t>   • 호환성 문제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B0C4D8"/>
                </a:solidFill>
              </a:rPr>
              <a:t>   • 중립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B0C4D8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B0C4D8"/>
                </a:solidFill>
              </a:rPr>
              <a:t>✦ 출력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B0C4D8"/>
                </a:solidFill>
              </a:rPr>
              <a:t>   부품별 평판 점수 (0 ~ 100)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분류 결과 예시 — RTX 4070 Ti SUPER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긍정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983740"/>
            <a:ext cx="2633472" cy="228600"/>
          </a:xfrm>
          <a:prstGeom prst="rect">
            <a:avLst/>
          </a:prstGeom>
          <a:solidFill>
            <a:srgbClr val="1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2152" y="19202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72%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700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가격 불만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2733548"/>
            <a:ext cx="402336" cy="2286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91016" y="26700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41985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성능 불만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3483356"/>
            <a:ext cx="292608" cy="22860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81288" y="341985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696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호환성 문제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4233164"/>
            <a:ext cx="182880" cy="22860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71560" y="416966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9194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중립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4982972"/>
            <a:ext cx="146304" cy="228600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34984" y="49194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760720"/>
            <a:ext cx="5303520" cy="12700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852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C87E"/>
                </a:solidFill>
              </a:rPr>
              <a:t>→ 종합 평판 점수: 74 / 100  (신뢰할 만한 선택)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01600" cy="10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11. 3D 조립 시뮬레이션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</a:rPr>
              <a:t>3D Assembly Simulation — Three.js (Extension)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830"/>
                </a:solidFill>
              </a:rPr>
              <a:t>⚠  확장 기능 — 현재 pc_3d_assembly/ 디렉토리에 기본 뷰어 구현, 완전한 인터랙션은 개발 예정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2651760" cy="32004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인터랙티브
3D 뷰어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Three.js로 PC 케이스 및
부품을 3D 렌더링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103120"/>
            <a:ext cx="2651760" cy="32004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1945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9260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드래그 앤
드롭 조립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6576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사용자가 직접 부품을
끼워보며 조립 학습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103120"/>
            <a:ext cx="2651760" cy="32004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1945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9260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호환성
시각적 경고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6576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호환 불가 슬롯 시도 시
빨간색 경고 표시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2103120"/>
            <a:ext cx="2651760" cy="32004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21945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9260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초보자
학습 모드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6576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</a:rPr>
              <a:t>단계별 가이드와 함께
조립 과정 실습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86400"/>
            <a:ext cx="11247120" cy="10058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기대 효과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조립 경험 없는 초보자도 시뮬레이션으로 실수 없이 조립 가능  →  조립 서비스 비용 절감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101600" cy="10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12. 확장 기능 및 미구현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</a:rPr>
              <a:t>Extensions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566160" cy="21488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566160" cy="3810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5544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LLM 설명 생성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572768"/>
            <a:ext cx="1051560" cy="32004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55448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개발 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GPT / Claude 기반
분석 결과를 쉬운 언어로 설명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3566160" cy="21488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63040"/>
            <a:ext cx="3566160" cy="3810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554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5544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문서 기반
자동 추출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1572768"/>
            <a:ext cx="1051560" cy="32004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55448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개발 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1945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견적서 PDF에서
부품 정보 자동 파싱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463040"/>
            <a:ext cx="3566160" cy="21488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463040"/>
            <a:ext cx="3566160" cy="381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554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15544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국내 중고
플랫폼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61320" y="1572768"/>
            <a:ext cx="1051560" cy="32004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61320" y="155448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미구현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1945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당근마켓 · 번개장터 · 중고나라
시세 크롤링 확장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886200"/>
            <a:ext cx="3566160" cy="21488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886200"/>
            <a:ext cx="3566160" cy="381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977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9776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가격 예측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3995928"/>
            <a:ext cx="1051560" cy="32004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397764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미구현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61772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시계열 모델로
부품 가격 트렌드 예측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3886200"/>
            <a:ext cx="3566160" cy="21488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97680" y="3886200"/>
            <a:ext cx="3566160" cy="381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3977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39776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FPS 시뮬레이션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20840" y="3995928"/>
            <a:ext cx="1051560" cy="32004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397764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미구현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461772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게임별 예상 FPS
성능 예측 모델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3886200"/>
            <a:ext cx="3566160" cy="21488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60" y="3886200"/>
            <a:ext cx="3566160" cy="3810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3977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400" y="39776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재평가 고도화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561320" y="3995928"/>
            <a:ext cx="1051560" cy="32004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61320" y="397764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개발 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61772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부품 교체 후
재점수 자동 산출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400800"/>
            <a:ext cx="1005840" cy="177800"/>
          </a:xfrm>
          <a:prstGeom prst="rect">
            <a:avLst/>
          </a:prstGeom>
          <a:solidFill>
            <a:srgbClr val="FFB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54480" y="63733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개발 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6400800"/>
            <a:ext cx="1005840" cy="177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97680" y="63733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미구현 — 향후 로드맵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63733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C42"/>
                </a:solidFill>
              </a:rPr>
              <a:t>★ 국내 중고 플랫폼 연동이 추가되면 eBay 대비 훨씬 정확한 국내 시세 제공 가능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0D4FF"/>
                </a:solidFill>
              </a:rPr>
              <a:t>SpecCheck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FFFFFF"/>
                </a:solidFill>
              </a:rPr>
              <a:t>신품 가격 · 중고 시세 · 성능 · 호환성 · 커뮤니티 평가를 종합한
AI 기반 PC 견적 의사결정 지원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931920"/>
            <a:ext cx="3931920" cy="25400"/>
          </a:xfrm>
          <a:prstGeom prst="rect">
            <a:avLst/>
          </a:prstGeom>
          <a:solidFill>
            <a:srgbClr val="00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43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C4D8"/>
                </a:solidFill>
              </a:rPr>
              <a:t>✔  단순 추천이 아닌 사용자 견적을 검증·설명하는 AI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92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C4D8"/>
                </a:solidFill>
              </a:rPr>
              <a:t>✔  신품(네이버) + 중고(eBay) 이원화 가격으로 최적 예산 산출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40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C4D8"/>
                </a:solidFill>
              </a:rPr>
              <a:t>✔  성능 병목, 커뮤니티 평판까지 한 번에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